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62" r:id="rId6"/>
    <p:sldId id="263" r:id="rId7"/>
    <p:sldId id="260" r:id="rId8"/>
    <p:sldId id="259" r:id="rId9"/>
    <p:sldId id="282" r:id="rId10"/>
    <p:sldId id="281" r:id="rId11"/>
    <p:sldId id="261" r:id="rId12"/>
    <p:sldId id="267" r:id="rId13"/>
    <p:sldId id="269" r:id="rId14"/>
    <p:sldId id="270" r:id="rId15"/>
    <p:sldId id="278" r:id="rId16"/>
    <p:sldId id="279" r:id="rId17"/>
    <p:sldId id="272" r:id="rId18"/>
    <p:sldId id="276" r:id="rId19"/>
    <p:sldId id="275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F3399"/>
    <a:srgbClr val="0066FF"/>
    <a:srgbClr val="0099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342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2BE61-7B7A-4BEB-98FF-A2DCBF474832}" type="datetimeFigureOut">
              <a:rPr lang="en-US" smtClean="0"/>
              <a:pPr/>
              <a:t>10/22/2026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"/>
            <a:ext cx="12192000" cy="857256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DESIGN THINKING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376" y="5229200"/>
            <a:ext cx="11089232" cy="1412694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IN" sz="2200" b="1" dirty="0">
                <a:solidFill>
                  <a:srgbClr val="C00000"/>
                </a:solidFill>
              </a:rPr>
              <a:t>Dr  </a:t>
            </a:r>
            <a:r>
              <a:rPr lang="en-IN" sz="2200" b="1" dirty="0" smtClean="0">
                <a:solidFill>
                  <a:srgbClr val="C00000"/>
                </a:solidFill>
              </a:rPr>
              <a:t>K </a:t>
            </a:r>
            <a:r>
              <a:rPr lang="en-IN" sz="2200" b="1" dirty="0" err="1" smtClean="0">
                <a:solidFill>
                  <a:srgbClr val="C00000"/>
                </a:solidFill>
              </a:rPr>
              <a:t>DeviPriya</a:t>
            </a:r>
            <a:endParaRPr lang="en-IN" sz="2200" b="1" smtClean="0">
              <a:solidFill>
                <a:srgbClr val="C0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IN" sz="2200" b="1" smtClean="0"/>
              <a:t>Professor</a:t>
            </a:r>
            <a:r>
              <a:rPr lang="en-IN" sz="2200" b="1" dirty="0"/>
              <a:t>, Computer Science &amp; Engineering Department</a:t>
            </a:r>
          </a:p>
          <a:p>
            <a:pPr algn="ctr">
              <a:lnSpc>
                <a:spcPct val="130000"/>
              </a:lnSpc>
            </a:pPr>
            <a:r>
              <a:rPr lang="en-IN" sz="2200" b="1" dirty="0" err="1"/>
              <a:t>Lakireddy</a:t>
            </a:r>
            <a:r>
              <a:rPr lang="en-IN" sz="2200" b="1" dirty="0"/>
              <a:t> Bali Reddy College of Engineering (A), </a:t>
            </a:r>
            <a:r>
              <a:rPr lang="en-IN" sz="2200" b="1" dirty="0" err="1"/>
              <a:t>Mylavaram</a:t>
            </a:r>
            <a:endParaRPr lang="en-IN" sz="2200" b="1" dirty="0"/>
          </a:p>
        </p:txBody>
      </p:sp>
      <p:sp>
        <p:nvSpPr>
          <p:cNvPr id="16386" name="AutoShape 2" descr="Design Thinking for Product Development at Welingkar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84" y="1412776"/>
            <a:ext cx="3024336" cy="302433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935760" y="1332200"/>
            <a:ext cx="3672408" cy="3320936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52728" cy="1196776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Concept of Design Thinking</a:t>
            </a:r>
          </a:p>
        </p:txBody>
      </p:sp>
      <p:pic>
        <p:nvPicPr>
          <p:cNvPr id="7" name="Picture 6" descr="DT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18" y="214290"/>
            <a:ext cx="6429420" cy="6429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5403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3" name="Picture 2" descr="DT1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18" y="857233"/>
            <a:ext cx="5695968" cy="5626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53322" y="2214554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64" y="3345420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1884" y="4857760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8678" y="478632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36" y="32739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8678" y="192880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571504"/>
          </a:xfrm>
          <a:solidFill>
            <a:srgbClr val="0000FF"/>
          </a:solidFill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764704"/>
            <a:ext cx="7026574" cy="543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2416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4364" y="6448032"/>
            <a:ext cx="928694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5934" y="6448033"/>
            <a:ext cx="114813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1818" y="6448032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1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REFINE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120848"/>
            <a:ext cx="10388640" cy="5244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52596" y="1059404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FF3300"/>
                </a:solidFill>
              </a:rPr>
              <a:t>Innovation/Outcome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376" y="756334"/>
            <a:ext cx="11233248" cy="56784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sz="2200" b="1" dirty="0">
                <a:solidFill>
                  <a:srgbClr val="0066FF"/>
                </a:solidFill>
              </a:rPr>
              <a:t>Objectives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0066FF"/>
                </a:solidFill>
              </a:rPr>
              <a:t> </a:t>
            </a:r>
            <a:r>
              <a:rPr lang="en-IN" sz="2200" b="1" dirty="0">
                <a:solidFill>
                  <a:srgbClr val="C00000"/>
                </a:solidFill>
              </a:rPr>
              <a:t>to transform Insights to Needs 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0066FF"/>
                </a:solidFill>
              </a:rPr>
              <a:t> to pinpoint core problems and potential opportunities for creating potential solutions</a:t>
            </a:r>
          </a:p>
          <a:p>
            <a:pPr fontAlgn="base">
              <a:lnSpc>
                <a:spcPct val="150000"/>
              </a:lnSpc>
            </a:pPr>
            <a:r>
              <a:rPr lang="en-IN" sz="2200" b="1" dirty="0">
                <a:solidFill>
                  <a:srgbClr val="FF3300"/>
                </a:solidFill>
              </a:rPr>
              <a:t>Work plan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FF3399"/>
                </a:solidFill>
              </a:rPr>
              <a:t> Generally done in a group and/or small teams</a:t>
            </a:r>
          </a:p>
          <a:p>
            <a:pPr lvl="1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FF3399"/>
                </a:solidFill>
              </a:rPr>
              <a:t>It helps everyone have the same information, allows for multiple interpretations and therefore deeper insights.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FF3399"/>
                </a:solidFill>
              </a:rPr>
              <a:t> Sometimes the problem identified is not the one the group thought they’d set out to tackle. 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FF3399"/>
                </a:solidFill>
              </a:rPr>
              <a:t> It may be different, broader, or more nuanced than it was originally assumed to be.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/>
              <a:t> These insights are summarized in documents such as </a:t>
            </a:r>
            <a:r>
              <a:rPr lang="en-IN" sz="2200" b="1" dirty="0">
                <a:solidFill>
                  <a:srgbClr val="FF0000"/>
                </a:solidFill>
              </a:rPr>
              <a:t>empathy maps</a:t>
            </a:r>
            <a:r>
              <a:rPr lang="en-IN" sz="2200" dirty="0"/>
              <a:t>, </a:t>
            </a:r>
            <a:r>
              <a:rPr lang="en-IN" sz="2200" b="1" dirty="0">
                <a:solidFill>
                  <a:srgbClr val="0066FF"/>
                </a:solidFill>
              </a:rPr>
              <a:t>personas</a:t>
            </a:r>
            <a:r>
              <a:rPr lang="en-IN" sz="2200" dirty="0"/>
              <a:t> and </a:t>
            </a:r>
            <a:r>
              <a:rPr lang="en-IN" sz="2200" b="1" dirty="0">
                <a:solidFill>
                  <a:srgbClr val="009900"/>
                </a:solidFill>
              </a:rPr>
              <a:t>user journeys</a:t>
            </a:r>
            <a:r>
              <a:rPr lang="en-IN" sz="22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237312"/>
            <a:ext cx="12119664" cy="64807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pic>
        <p:nvPicPr>
          <p:cNvPr id="9" name="Picture 2" descr="https://public-media.interaction-design.org/images/uploads/653bfb2401c80aaca7d8ce13c26c6f4d.jpg"/>
          <p:cNvPicPr>
            <a:picLocks noChangeAspect="1" noChangeArrowheads="1"/>
          </p:cNvPicPr>
          <p:nvPr/>
        </p:nvPicPr>
        <p:blipFill rotWithShape="1">
          <a:blip r:embed="rId2"/>
          <a:srcRect b="15505"/>
          <a:stretch/>
        </p:blipFill>
        <p:spPr bwMode="auto">
          <a:xfrm>
            <a:off x="191344" y="128706"/>
            <a:ext cx="11928320" cy="5460534"/>
          </a:xfrm>
          <a:prstGeom prst="rect">
            <a:avLst/>
          </a:prstGeom>
          <a:noFill/>
        </p:spPr>
      </p:pic>
      <p:pic>
        <p:nvPicPr>
          <p:cNvPr id="5" name="Picture 6" descr="DEFINE IN DESIGN THINKING"/>
          <p:cNvPicPr>
            <a:picLocks noChangeAspect="1" noChangeArrowheads="1"/>
          </p:cNvPicPr>
          <p:nvPr/>
        </p:nvPicPr>
        <p:blipFill rotWithShape="1">
          <a:blip r:embed="rId3"/>
          <a:srcRect t="16071"/>
          <a:stretch/>
        </p:blipFill>
        <p:spPr bwMode="auto">
          <a:xfrm>
            <a:off x="263352" y="3462039"/>
            <a:ext cx="5688632" cy="258331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571504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1544" y="692696"/>
            <a:ext cx="6912768" cy="3194721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sz="2800" b="1" dirty="0">
                <a:solidFill>
                  <a:schemeClr val="bg1"/>
                </a:solidFill>
              </a:rPr>
              <a:t>Steps to be followed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Clarity from Wants to Needs 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Scope of problem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User/Customer Journey Maps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Point of View Statements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Choosing and developing a 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1544" y="4008633"/>
            <a:ext cx="691276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</a:rPr>
              <a:t>Point of View Statements ( Need of User)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/>
              <a:t> Role based (User/Manager/Officer </a:t>
            </a:r>
            <a:r>
              <a:rPr lang="en-IN" sz="2400" dirty="0" err="1"/>
              <a:t>etc</a:t>
            </a:r>
            <a:r>
              <a:rPr lang="en-IN" sz="2400" dirty="0"/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/>
              <a:t> Situation based (Location Based)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Point of View Questions (For the Designer)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551384" y="2843784"/>
            <a:ext cx="11161240" cy="3357472"/>
            <a:chOff x="551384" y="2843784"/>
            <a:chExt cx="11161240" cy="3357472"/>
          </a:xfrm>
        </p:grpSpPr>
        <p:grpSp>
          <p:nvGrpSpPr>
            <p:cNvPr id="3" name="Group 2"/>
            <p:cNvGrpSpPr/>
            <p:nvPr/>
          </p:nvGrpSpPr>
          <p:grpSpPr>
            <a:xfrm>
              <a:off x="1905000" y="3086775"/>
              <a:ext cx="8382000" cy="684450"/>
              <a:chOff x="0" y="1028418"/>
              <a:chExt cx="8382000" cy="684450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0" y="1028418"/>
                <a:ext cx="8382000" cy="68445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" name="Rounded Rectangle 4"/>
              <p:cNvSpPr/>
              <p:nvPr/>
            </p:nvSpPr>
            <p:spPr>
              <a:xfrm>
                <a:off x="33412" y="1061830"/>
                <a:ext cx="8315176" cy="6176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8580" tIns="68580" rIns="68580" bIns="68580" numCol="1" spcCol="1270" anchor="ctr" anchorCtr="0">
                <a:noAutofit/>
              </a:bodyPr>
              <a:lstStyle/>
              <a:p>
                <a:pPr lvl="0" algn="l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/>
                  <a:t>I’m a </a:t>
                </a:r>
                <a:r>
                  <a:rPr lang="en-IN" sz="2400" b="1" kern="1200"/>
                  <a:t>STUDENT </a:t>
                </a:r>
                <a:r>
                  <a:rPr lang="en-IN" sz="2400" kern="1200"/>
                  <a:t>(that’s my </a:t>
                </a:r>
                <a:r>
                  <a:rPr lang="en-IN" sz="2400" b="1" kern="1200"/>
                  <a:t>role</a:t>
                </a:r>
                <a:r>
                  <a:rPr lang="en-IN" sz="2400" kern="1200"/>
                  <a:t>), and I want to get good marks (job to be done) so I can have a good relationship with my parents (benefit desired: affiliation)</a:t>
                </a:r>
                <a:endParaRPr lang="en-US" sz="2400" kern="120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551384" y="2843784"/>
              <a:ext cx="11161240" cy="3357472"/>
              <a:chOff x="551384" y="2843784"/>
              <a:chExt cx="11161240" cy="3357472"/>
            </a:xfrm>
          </p:grpSpPr>
          <p:sp>
            <p:nvSpPr>
              <p:cNvPr id="11" name="Freeform 10"/>
              <p:cNvSpPr/>
              <p:nvPr/>
            </p:nvSpPr>
            <p:spPr>
              <a:xfrm>
                <a:off x="551384" y="2843784"/>
                <a:ext cx="11161240" cy="883662"/>
              </a:xfrm>
              <a:custGeom>
                <a:avLst/>
                <a:gdLst>
                  <a:gd name="connsiteX0" fmla="*/ 0 w 11161240"/>
                  <a:gd name="connsiteY0" fmla="*/ 147280 h 883662"/>
                  <a:gd name="connsiteX1" fmla="*/ 147280 w 11161240"/>
                  <a:gd name="connsiteY1" fmla="*/ 0 h 883662"/>
                  <a:gd name="connsiteX2" fmla="*/ 11013960 w 11161240"/>
                  <a:gd name="connsiteY2" fmla="*/ 0 h 883662"/>
                  <a:gd name="connsiteX3" fmla="*/ 11161240 w 11161240"/>
                  <a:gd name="connsiteY3" fmla="*/ 147280 h 883662"/>
                  <a:gd name="connsiteX4" fmla="*/ 11161240 w 11161240"/>
                  <a:gd name="connsiteY4" fmla="*/ 736382 h 883662"/>
                  <a:gd name="connsiteX5" fmla="*/ 11013960 w 11161240"/>
                  <a:gd name="connsiteY5" fmla="*/ 883662 h 883662"/>
                  <a:gd name="connsiteX6" fmla="*/ 147280 w 11161240"/>
                  <a:gd name="connsiteY6" fmla="*/ 883662 h 883662"/>
                  <a:gd name="connsiteX7" fmla="*/ 0 w 11161240"/>
                  <a:gd name="connsiteY7" fmla="*/ 736382 h 883662"/>
                  <a:gd name="connsiteX8" fmla="*/ 0 w 11161240"/>
                  <a:gd name="connsiteY8" fmla="*/ 147280 h 883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61240" h="883662">
                    <a:moveTo>
                      <a:pt x="0" y="147280"/>
                    </a:moveTo>
                    <a:cubicBezTo>
                      <a:pt x="0" y="65940"/>
                      <a:pt x="65940" y="0"/>
                      <a:pt x="147280" y="0"/>
                    </a:cubicBezTo>
                    <a:lnTo>
                      <a:pt x="11013960" y="0"/>
                    </a:lnTo>
                    <a:cubicBezTo>
                      <a:pt x="11095300" y="0"/>
                      <a:pt x="11161240" y="65940"/>
                      <a:pt x="11161240" y="147280"/>
                    </a:cubicBezTo>
                    <a:lnTo>
                      <a:pt x="11161240" y="736382"/>
                    </a:lnTo>
                    <a:cubicBezTo>
                      <a:pt x="11161240" y="817722"/>
                      <a:pt x="11095300" y="883662"/>
                      <a:pt x="11013960" y="883662"/>
                    </a:cubicBezTo>
                    <a:lnTo>
                      <a:pt x="147280" y="883662"/>
                    </a:lnTo>
                    <a:cubicBezTo>
                      <a:pt x="65940" y="883662"/>
                      <a:pt x="0" y="817722"/>
                      <a:pt x="0" y="736382"/>
                    </a:cubicBezTo>
                    <a:lnTo>
                      <a:pt x="0" y="14728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9337" tIns="119337" rIns="119337" bIns="119337" numCol="1" spcCol="1270" anchor="ctr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b="1" kern="1200" dirty="0">
                    <a:solidFill>
                      <a:srgbClr val="FFFF00"/>
                    </a:solidFill>
                  </a:rPr>
                  <a:t>ROLE-BASED POINT OF VIEW STATEMENT</a:t>
                </a:r>
                <a:endParaRPr lang="en-US" sz="2400" kern="12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551384" y="3702547"/>
                <a:ext cx="11161240" cy="794503"/>
              </a:xfrm>
              <a:custGeom>
                <a:avLst/>
                <a:gdLst>
                  <a:gd name="connsiteX0" fmla="*/ 0 w 11161240"/>
                  <a:gd name="connsiteY0" fmla="*/ 132420 h 794503"/>
                  <a:gd name="connsiteX1" fmla="*/ 132420 w 11161240"/>
                  <a:gd name="connsiteY1" fmla="*/ 0 h 794503"/>
                  <a:gd name="connsiteX2" fmla="*/ 11028820 w 11161240"/>
                  <a:gd name="connsiteY2" fmla="*/ 0 h 794503"/>
                  <a:gd name="connsiteX3" fmla="*/ 11161240 w 11161240"/>
                  <a:gd name="connsiteY3" fmla="*/ 132420 h 794503"/>
                  <a:gd name="connsiteX4" fmla="*/ 11161240 w 11161240"/>
                  <a:gd name="connsiteY4" fmla="*/ 662083 h 794503"/>
                  <a:gd name="connsiteX5" fmla="*/ 11028820 w 11161240"/>
                  <a:gd name="connsiteY5" fmla="*/ 794503 h 794503"/>
                  <a:gd name="connsiteX6" fmla="*/ 132420 w 11161240"/>
                  <a:gd name="connsiteY6" fmla="*/ 794503 h 794503"/>
                  <a:gd name="connsiteX7" fmla="*/ 0 w 11161240"/>
                  <a:gd name="connsiteY7" fmla="*/ 662083 h 794503"/>
                  <a:gd name="connsiteX8" fmla="*/ 0 w 11161240"/>
                  <a:gd name="connsiteY8" fmla="*/ 132420 h 79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61240" h="794503">
                    <a:moveTo>
                      <a:pt x="0" y="132420"/>
                    </a:moveTo>
                    <a:cubicBezTo>
                      <a:pt x="0" y="59286"/>
                      <a:pt x="59286" y="0"/>
                      <a:pt x="132420" y="0"/>
                    </a:cubicBezTo>
                    <a:lnTo>
                      <a:pt x="11028820" y="0"/>
                    </a:lnTo>
                    <a:cubicBezTo>
                      <a:pt x="11101954" y="0"/>
                      <a:pt x="11161240" y="59286"/>
                      <a:pt x="11161240" y="132420"/>
                    </a:cubicBezTo>
                    <a:lnTo>
                      <a:pt x="11161240" y="662083"/>
                    </a:lnTo>
                    <a:cubicBezTo>
                      <a:pt x="11161240" y="735217"/>
                      <a:pt x="11101954" y="794503"/>
                      <a:pt x="11028820" y="794503"/>
                    </a:cubicBezTo>
                    <a:lnTo>
                      <a:pt x="132420" y="794503"/>
                    </a:lnTo>
                    <a:cubicBezTo>
                      <a:pt x="59286" y="794503"/>
                      <a:pt x="0" y="735217"/>
                      <a:pt x="0" y="662083"/>
                    </a:cubicBezTo>
                    <a:lnTo>
                      <a:pt x="0" y="13242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984" tIns="114984" rIns="114984" bIns="114984" numCol="1" spcCol="1270" anchor="ctr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 dirty="0"/>
                  <a:t>I’m a </a:t>
                </a:r>
                <a:r>
                  <a:rPr lang="en-IN" sz="2400" b="1" kern="1200" dirty="0"/>
                  <a:t>STUDENT </a:t>
                </a:r>
                <a:r>
                  <a:rPr lang="en-IN" sz="2400" kern="1200" dirty="0"/>
                  <a:t>(that’s my </a:t>
                </a:r>
                <a:r>
                  <a:rPr lang="en-IN" sz="2400" b="1" kern="1200" dirty="0"/>
                  <a:t>role</a:t>
                </a:r>
                <a:r>
                  <a:rPr lang="en-IN" sz="2400" kern="1200" dirty="0"/>
                  <a:t>), and I want to get good marks (job to be done) so I can have a good relationship with my parents (benefit desired: affiliation)</a:t>
                </a:r>
                <a:endParaRPr lang="en-US" sz="2400" kern="1200" dirty="0"/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551384" y="4554650"/>
                <a:ext cx="11161240" cy="794503"/>
              </a:xfrm>
              <a:custGeom>
                <a:avLst/>
                <a:gdLst>
                  <a:gd name="connsiteX0" fmla="*/ 0 w 11161240"/>
                  <a:gd name="connsiteY0" fmla="*/ 132420 h 794503"/>
                  <a:gd name="connsiteX1" fmla="*/ 132420 w 11161240"/>
                  <a:gd name="connsiteY1" fmla="*/ 0 h 794503"/>
                  <a:gd name="connsiteX2" fmla="*/ 11028820 w 11161240"/>
                  <a:gd name="connsiteY2" fmla="*/ 0 h 794503"/>
                  <a:gd name="connsiteX3" fmla="*/ 11161240 w 11161240"/>
                  <a:gd name="connsiteY3" fmla="*/ 132420 h 794503"/>
                  <a:gd name="connsiteX4" fmla="*/ 11161240 w 11161240"/>
                  <a:gd name="connsiteY4" fmla="*/ 662083 h 794503"/>
                  <a:gd name="connsiteX5" fmla="*/ 11028820 w 11161240"/>
                  <a:gd name="connsiteY5" fmla="*/ 794503 h 794503"/>
                  <a:gd name="connsiteX6" fmla="*/ 132420 w 11161240"/>
                  <a:gd name="connsiteY6" fmla="*/ 794503 h 794503"/>
                  <a:gd name="connsiteX7" fmla="*/ 0 w 11161240"/>
                  <a:gd name="connsiteY7" fmla="*/ 662083 h 794503"/>
                  <a:gd name="connsiteX8" fmla="*/ 0 w 11161240"/>
                  <a:gd name="connsiteY8" fmla="*/ 132420 h 79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61240" h="794503">
                    <a:moveTo>
                      <a:pt x="0" y="132420"/>
                    </a:moveTo>
                    <a:cubicBezTo>
                      <a:pt x="0" y="59286"/>
                      <a:pt x="59286" y="0"/>
                      <a:pt x="132420" y="0"/>
                    </a:cubicBezTo>
                    <a:lnTo>
                      <a:pt x="11028820" y="0"/>
                    </a:lnTo>
                    <a:cubicBezTo>
                      <a:pt x="11101954" y="0"/>
                      <a:pt x="11161240" y="59286"/>
                      <a:pt x="11161240" y="132420"/>
                    </a:cubicBezTo>
                    <a:lnTo>
                      <a:pt x="11161240" y="662083"/>
                    </a:lnTo>
                    <a:cubicBezTo>
                      <a:pt x="11161240" y="735217"/>
                      <a:pt x="11101954" y="794503"/>
                      <a:pt x="11028820" y="794503"/>
                    </a:cubicBezTo>
                    <a:lnTo>
                      <a:pt x="132420" y="794503"/>
                    </a:lnTo>
                    <a:cubicBezTo>
                      <a:pt x="59286" y="794503"/>
                      <a:pt x="0" y="735217"/>
                      <a:pt x="0" y="662083"/>
                    </a:cubicBezTo>
                    <a:lnTo>
                      <a:pt x="0" y="13242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984" tIns="114984" rIns="114984" bIns="114984" numCol="1" spcCol="1270" anchor="ctr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b="1" kern="1200" dirty="0">
                    <a:solidFill>
                      <a:srgbClr val="FFFF00"/>
                    </a:solidFill>
                  </a:rPr>
                  <a:t>SITUATION-BASED POINT OF VIEW STATEMENT</a:t>
                </a:r>
                <a:endParaRPr lang="en-US" sz="2400" kern="12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551384" y="5406753"/>
                <a:ext cx="11161240" cy="794503"/>
              </a:xfrm>
              <a:custGeom>
                <a:avLst/>
                <a:gdLst>
                  <a:gd name="connsiteX0" fmla="*/ 0 w 11161240"/>
                  <a:gd name="connsiteY0" fmla="*/ 132420 h 794503"/>
                  <a:gd name="connsiteX1" fmla="*/ 132420 w 11161240"/>
                  <a:gd name="connsiteY1" fmla="*/ 0 h 794503"/>
                  <a:gd name="connsiteX2" fmla="*/ 11028820 w 11161240"/>
                  <a:gd name="connsiteY2" fmla="*/ 0 h 794503"/>
                  <a:gd name="connsiteX3" fmla="*/ 11161240 w 11161240"/>
                  <a:gd name="connsiteY3" fmla="*/ 132420 h 794503"/>
                  <a:gd name="connsiteX4" fmla="*/ 11161240 w 11161240"/>
                  <a:gd name="connsiteY4" fmla="*/ 662083 h 794503"/>
                  <a:gd name="connsiteX5" fmla="*/ 11028820 w 11161240"/>
                  <a:gd name="connsiteY5" fmla="*/ 794503 h 794503"/>
                  <a:gd name="connsiteX6" fmla="*/ 132420 w 11161240"/>
                  <a:gd name="connsiteY6" fmla="*/ 794503 h 794503"/>
                  <a:gd name="connsiteX7" fmla="*/ 0 w 11161240"/>
                  <a:gd name="connsiteY7" fmla="*/ 662083 h 794503"/>
                  <a:gd name="connsiteX8" fmla="*/ 0 w 11161240"/>
                  <a:gd name="connsiteY8" fmla="*/ 132420 h 79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61240" h="794503">
                    <a:moveTo>
                      <a:pt x="0" y="132420"/>
                    </a:moveTo>
                    <a:cubicBezTo>
                      <a:pt x="0" y="59286"/>
                      <a:pt x="59286" y="0"/>
                      <a:pt x="132420" y="0"/>
                    </a:cubicBezTo>
                    <a:lnTo>
                      <a:pt x="11028820" y="0"/>
                    </a:lnTo>
                    <a:cubicBezTo>
                      <a:pt x="11101954" y="0"/>
                      <a:pt x="11161240" y="59286"/>
                      <a:pt x="11161240" y="132420"/>
                    </a:cubicBezTo>
                    <a:lnTo>
                      <a:pt x="11161240" y="662083"/>
                    </a:lnTo>
                    <a:cubicBezTo>
                      <a:pt x="11161240" y="735217"/>
                      <a:pt x="11101954" y="794503"/>
                      <a:pt x="11028820" y="794503"/>
                    </a:cubicBezTo>
                    <a:lnTo>
                      <a:pt x="132420" y="794503"/>
                    </a:lnTo>
                    <a:cubicBezTo>
                      <a:pt x="59286" y="794503"/>
                      <a:pt x="0" y="735217"/>
                      <a:pt x="0" y="662083"/>
                    </a:cubicBezTo>
                    <a:lnTo>
                      <a:pt x="0" y="13242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984" tIns="114984" rIns="114984" bIns="114984" numCol="1" spcCol="1270" anchor="ctr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 dirty="0"/>
                  <a:t>When I </a:t>
                </a:r>
                <a:r>
                  <a:rPr lang="en-IN" sz="2400" b="1" kern="1200" dirty="0"/>
                  <a:t>WRITE AN EXAM </a:t>
                </a:r>
                <a:r>
                  <a:rPr lang="en-IN" sz="2400" kern="1200" dirty="0"/>
                  <a:t>(that’s the </a:t>
                </a:r>
                <a:r>
                  <a:rPr lang="en-IN" sz="2400" b="1" kern="1200" dirty="0"/>
                  <a:t>situation</a:t>
                </a:r>
                <a:r>
                  <a:rPr lang="en-IN" sz="2400" kern="1200" dirty="0"/>
                  <a:t>), I feel nervous (immediate need or problem) because I might get an embarrassing score (benefit desired: esteem). </a:t>
                </a:r>
                <a:endParaRPr lang="en-US" sz="2400" kern="1200" dirty="0"/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335360" y="1052736"/>
            <a:ext cx="11737304" cy="12741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>
              <a:spcBef>
                <a:spcPct val="20000"/>
              </a:spcBef>
              <a:defRPr/>
            </a:pPr>
            <a:r>
              <a:rPr lang="en-IN" sz="2400" b="1" dirty="0">
                <a:sym typeface="+mn-ea"/>
              </a:rPr>
              <a:t>ROLE-BASED: </a:t>
            </a:r>
            <a:r>
              <a:rPr lang="en-IN" sz="2400" dirty="0">
                <a:sym typeface="+mn-ea"/>
              </a:rPr>
              <a:t>Certain types of people want to get jobs done to </a:t>
            </a:r>
            <a:r>
              <a:rPr lang="en-IN" sz="2400" b="1" dirty="0">
                <a:sym typeface="+mn-ea"/>
              </a:rPr>
              <a:t>meet psychological needs</a:t>
            </a:r>
            <a:r>
              <a:rPr lang="en-IN" sz="2400" dirty="0">
                <a:sym typeface="+mn-ea"/>
              </a:rPr>
              <a:t>.</a:t>
            </a:r>
          </a:p>
          <a:p>
            <a:pPr defTabSz="685800">
              <a:spcBef>
                <a:spcPct val="20000"/>
              </a:spcBef>
              <a:defRPr/>
            </a:pPr>
            <a:r>
              <a:rPr lang="en-IN" sz="2400" b="1" dirty="0">
                <a:sym typeface="+mn-ea"/>
              </a:rPr>
              <a:t>SITUATION-BASED:</a:t>
            </a:r>
            <a:r>
              <a:rPr lang="en-IN" sz="2400" dirty="0">
                <a:sym typeface="+mn-ea"/>
              </a:rPr>
              <a:t> All people face Certain Situations where they want to </a:t>
            </a:r>
            <a:r>
              <a:rPr lang="en-IN" sz="2400" b="1" dirty="0">
                <a:sym typeface="+mn-ea"/>
              </a:rPr>
              <a:t>meet psychological needs</a:t>
            </a:r>
            <a:endParaRPr lang="en-US" sz="24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-24"/>
            <a:ext cx="12192000" cy="571504"/>
          </a:xfrm>
          <a:prstGeom prst="rect">
            <a:avLst/>
          </a:prstGeom>
          <a:solidFill>
            <a:srgbClr val="0000FF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</a:rPr>
              <a:t>Types of Point of View Statements</a:t>
            </a:r>
          </a:p>
        </p:txBody>
      </p:sp>
    </p:spTree>
    <p:extLst>
      <p:ext uri="{BB962C8B-B14F-4D97-AF65-F5344CB8AC3E}">
        <p14:creationId xmlns:p14="http://schemas.microsoft.com/office/powerpoint/2010/main" val="3658443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571504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3352" y="620688"/>
            <a:ext cx="11377264" cy="2454198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POV Statement (Need of User):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I need to enter bus stand and reach my platform without any difficulty 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POV Question (for the Designer):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What should I provide to make the passenger easily reach his Platform in bus stand without any difficulty?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7221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4727848" cy="1052760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pic>
        <p:nvPicPr>
          <p:cNvPr id="4" name="Picture 3" descr="D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116632"/>
            <a:ext cx="5884198" cy="6408712"/>
          </a:xfrm>
          <a:prstGeom prst="rect">
            <a:avLst/>
          </a:prstGeom>
          <a:ln>
            <a:solidFill>
              <a:srgbClr val="FF330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63352" y="1268760"/>
            <a:ext cx="4392488" cy="33239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PERSONA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</a:rPr>
              <a:t>A brief CV of a person or Customer or User with short information.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</a:rPr>
              <a:t>It highlights his particulars, Interests, Aspirations, Challenges, Needs, Values and Behaviors followed by a summary.</a:t>
            </a:r>
            <a:endParaRPr lang="en-IN" sz="2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 descr="D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34" y="857233"/>
            <a:ext cx="8072462" cy="53816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DT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99" y="787357"/>
            <a:ext cx="10587174" cy="5737987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27648" cy="1556816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DT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88" y="161758"/>
            <a:ext cx="8568952" cy="6416431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5520" y="951111"/>
            <a:ext cx="8352928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Customer Journey Maps: Online Purchase of a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7368" y="2060848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Open the App based on requirement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7608" y="2060848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Browse the products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799856" y="2060848"/>
            <a:ext cx="129614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the product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816080" y="2060848"/>
            <a:ext cx="1584176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the specifications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9048328" y="2060848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the rates and Offers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9120336" y="3430741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Open another App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159896" y="3430741"/>
            <a:ext cx="3312368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Repeat the Process: Product selection, Specs, Price Discounts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2711624" y="3429000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Compare the Prices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07368" y="3429000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Take Feedback from Neighbors or Users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407368" y="4941168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with Reviews of the Product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639616" y="4942909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with Payment and Delivery Option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4871864" y="4942909"/>
            <a:ext cx="2448272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with Discounts on a  Credit Card payment</a:t>
            </a:r>
            <a:endParaRPr lang="en-IN" dirty="0"/>
          </a:p>
        </p:txBody>
      </p:sp>
      <p:sp>
        <p:nvSpPr>
          <p:cNvPr id="4" name="Right Arrow 3"/>
          <p:cNvSpPr/>
          <p:nvPr/>
        </p:nvSpPr>
        <p:spPr>
          <a:xfrm>
            <a:off x="2063552" y="2276872"/>
            <a:ext cx="504056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>
            <a:off x="4223792" y="2276872"/>
            <a:ext cx="504056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>
            <a:off x="6096000" y="2276872"/>
            <a:ext cx="648072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Arrow 21"/>
          <p:cNvSpPr/>
          <p:nvPr/>
        </p:nvSpPr>
        <p:spPr>
          <a:xfrm>
            <a:off x="8400256" y="2276872"/>
            <a:ext cx="648072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Arrow 22"/>
          <p:cNvSpPr/>
          <p:nvPr/>
        </p:nvSpPr>
        <p:spPr>
          <a:xfrm rot="10800000">
            <a:off x="2063552" y="3717032"/>
            <a:ext cx="576064" cy="76153"/>
          </a:xfrm>
          <a:prstGeom prst="rightArrow">
            <a:avLst/>
          </a:prstGeom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ight Arrow 23"/>
          <p:cNvSpPr/>
          <p:nvPr/>
        </p:nvSpPr>
        <p:spPr>
          <a:xfrm rot="10800000">
            <a:off x="4367808" y="3681899"/>
            <a:ext cx="792088" cy="111286"/>
          </a:xfrm>
          <a:prstGeom prst="rightArrow">
            <a:avLst/>
          </a:prstGeom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ight Arrow 24"/>
          <p:cNvSpPr/>
          <p:nvPr/>
        </p:nvSpPr>
        <p:spPr>
          <a:xfrm rot="10800000">
            <a:off x="8472264" y="3645025"/>
            <a:ext cx="576064" cy="72008"/>
          </a:xfrm>
          <a:prstGeom prst="rightArrow">
            <a:avLst/>
          </a:prstGeom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>
            <a:off x="2063552" y="5301208"/>
            <a:ext cx="57606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>
            <a:off x="4295800" y="5301208"/>
            <a:ext cx="57606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8040216" y="4941168"/>
            <a:ext cx="2664296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Take a decision, Order and Receive the product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7320136" y="5301208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>
            <a:off x="9984432" y="2707179"/>
            <a:ext cx="144016" cy="721821"/>
          </a:xfrm>
          <a:prstGeom prst="downArrow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own Arrow 29"/>
          <p:cNvSpPr/>
          <p:nvPr/>
        </p:nvSpPr>
        <p:spPr>
          <a:xfrm>
            <a:off x="911424" y="4352330"/>
            <a:ext cx="144016" cy="588838"/>
          </a:xfrm>
          <a:prstGeom prst="downArrow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813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5520" y="951111"/>
            <a:ext cx="8352928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Customer Journey Maps: Hotel Service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84" y="1578092"/>
            <a:ext cx="10058400" cy="500444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839059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3287688" cy="134079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6626" name="Picture 2" descr="What are Storyboards in UX Design? — updated 2024 | IxD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0558" y="153466"/>
            <a:ext cx="7920880" cy="6443886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760296" y="5949280"/>
            <a:ext cx="221799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STORY 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524892" y="1142984"/>
            <a:ext cx="18573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CASE STUDIES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8348" y="1142984"/>
            <a:ext cx="2921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66FF"/>
                </a:solidFill>
              </a:rPr>
              <a:t>Hire the cab online</a:t>
            </a:r>
          </a:p>
        </p:txBody>
      </p:sp>
      <p:pic>
        <p:nvPicPr>
          <p:cNvPr id="1026" name="Picture 2" descr="C:\Users\Admin\Desktop\DT14.png"/>
          <p:cNvPicPr>
            <a:picLocks noChangeAspect="1" noChangeArrowheads="1"/>
          </p:cNvPicPr>
          <p:nvPr/>
        </p:nvPicPr>
        <p:blipFill rotWithShape="1">
          <a:blip r:embed="rId2"/>
          <a:srcRect b="15154"/>
          <a:stretch/>
        </p:blipFill>
        <p:spPr bwMode="auto">
          <a:xfrm>
            <a:off x="2452661" y="1643050"/>
            <a:ext cx="8331321" cy="45942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8" y="-24"/>
            <a:ext cx="12144672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9710650" y="1844824"/>
            <a:ext cx="1785950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92" y="1757422"/>
            <a:ext cx="10945216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Coffee shop Problem - selection of specific model and snacks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Entering into a bus stand and identify your bus and platform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Exploring the utilities at a Railway station or Bus station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Following or cooking a Recipe at kitchen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Classifying or selection of right decoration for a party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Planning your daily schedule based on priorities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Finding a Library Book in the Library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Driving to or from Somewhere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Deciding how to plan a trip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Develop a Persona for a specific Customer and develop the brief story for him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952596" y="6478810"/>
            <a:ext cx="8286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https://www.learning.com/blog/7-examples-of-algorithms-in-everyday-life-for-students/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360" y="908720"/>
            <a:ext cx="10945216" cy="40011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000" dirty="0"/>
              <a:t>Develop POV or Persona or story board for any of the problems. Think for a specific perspective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340981"/>
            <a:ext cx="8066515" cy="42480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3392" y="476672"/>
            <a:ext cx="11017224" cy="59766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68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731</Words>
  <Application>Microsoft Office PowerPoint</Application>
  <PresentationFormat>Widescreen</PresentationFormat>
  <Paragraphs>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DESIGN THINKING AND INNOVATION</vt:lpstr>
      <vt:lpstr>Concept of Design Thinking</vt:lpstr>
      <vt:lpstr>Elements of Design Thinking</vt:lpstr>
      <vt:lpstr>Elements of Design Thinking</vt:lpstr>
      <vt:lpstr>Elements of Design Thinking</vt:lpstr>
      <vt:lpstr>Elements of Design Thinking: Define</vt:lpstr>
      <vt:lpstr>Elements of Design Thinking: Define</vt:lpstr>
      <vt:lpstr>Elements of Design Thinking: Define</vt:lpstr>
      <vt:lpstr>PowerPoint Presentation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IPC</cp:lastModifiedBy>
  <cp:revision>41</cp:revision>
  <dcterms:created xsi:type="dcterms:W3CDTF">2024-12-26T04:05:46Z</dcterms:created>
  <dcterms:modified xsi:type="dcterms:W3CDTF">2026-10-21T22:48:54Z</dcterms:modified>
</cp:coreProperties>
</file>